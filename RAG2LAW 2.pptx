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74" r:id="rId12"/>
    <p:sldId id="269" r:id="rId13"/>
    <p:sldId id="270" r:id="rId14"/>
  </p:sldIdLst>
  <p:sldSz cx="12192000" cy="6858000"/>
  <p:notesSz cx="6858000" cy="12192000"/>
  <p:embeddedFontLst>
    <p:embeddedFont>
      <p:font typeface="DM Sans Medium" pitchFamily="2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192" y="-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86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Hello Everyone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a new era of legal enterprise intelligence.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4200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Meet the Creators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01612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minds behind RAG2Law — building enterprise-grade legal AI from the ground up.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833588"/>
            <a:ext cx="3053877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850482" y="3022600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Kanak Khavate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431282"/>
            <a:ext cx="2675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Co-Creator &amp; Architect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833588"/>
            <a:ext cx="3053976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4093366" y="3022600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Sumit Patil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3431282"/>
            <a:ext cx="26759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Co-Creator &amp; Architect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111724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850482" y="430073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Sharya Dalwai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470941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Co-Creator &amp; Architect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56682" y="541347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</a:t>
            </a:r>
            <a:r>
              <a:rPr lang="en-US" sz="145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RAG2Law</a:t>
            </a:r>
            <a:r>
              <a:rPr lang="en-US" sz="14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Enterprise-Grade Legal AI Intelligence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988245"/>
            <a:ext cx="93590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46765" y="2044898"/>
            <a:ext cx="13186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35098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Three Critical Problems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233360" y="42648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Privacy. Scale. Truth. Every legal AI deployment must confront these three failure vectors — RAG2Law was built to eliminate all three.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2034"/>
            <a:ext cx="3513645" cy="351373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28141" y="723999"/>
            <a:ext cx="1111321" cy="278110"/>
          </a:xfrm>
          <a:prstGeom prst="roundRect">
            <a:avLst>
              <a:gd name="adj" fmla="val 7901"/>
            </a:avLst>
          </a:prstGeom>
          <a:solidFill>
            <a:srgbClr val="110745"/>
          </a:solidFill>
          <a:ln/>
        </p:spPr>
      </p:sp>
      <p:sp>
        <p:nvSpPr>
          <p:cNvPr id="4" name="Text 1"/>
          <p:cNvSpPr/>
          <p:nvPr/>
        </p:nvSpPr>
        <p:spPr>
          <a:xfrm>
            <a:off x="4737974" y="778867"/>
            <a:ext cx="1501241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#1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28141" y="1073051"/>
            <a:ext cx="690833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Privacy Exposure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217387" y="1907679"/>
            <a:ext cx="27540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Exposure Vector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7387" y="2371030"/>
            <a:ext cx="2754045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prompt submitted to a public LLM API is a potential data exfiltration event. Without strict local boundaries, enterprise AI becomes an </a:t>
            </a: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uncontrolled liability surface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82326" y="1907679"/>
            <a:ext cx="2754144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Proprietary Contracts &amp; Proofs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82326" y="2657078"/>
            <a:ext cx="2754144" cy="201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Passing sensitive corporate agreements to public cloud LLMs risks data theft and regulatory compliance breaches across </a:t>
            </a: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GDPR, HIPAA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attorney-client privilege mandates.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7387" y="5093692"/>
            <a:ext cx="631908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Financial &amp; Property Damage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17387" y="5557044"/>
            <a:ext cx="631908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data leak via a public AI prompt can cause </a:t>
            </a: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irreversible property damage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competitive harm, and direct legal liability.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09911"/>
            <a:ext cx="1178094" cy="287139"/>
          </a:xfrm>
          <a:prstGeom prst="roundRect">
            <a:avLst>
              <a:gd name="adj" fmla="val 7899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66565"/>
            <a:ext cx="15608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#2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726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Token Limits &amp; Scale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746772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935784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Million-Record Constraint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639741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legal cases involve thousands of documents. They physically </a:t>
            </a: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cannot fit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inside an AI context window — full stop.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746772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93578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Astronomical Token Costs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3344466"/>
            <a:ext cx="31188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the largest frontier models cap at ~128K tokens — a fraction of a real legal case's document volume. Dump-pasting raw files </a:t>
            </a: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burns through cloud API budgets within hours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production use.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746772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935784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Latency &amp; Model Breakdown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3639741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Oversized prompts degrade model attention mechanisms, causing high response latency, incoherent outputs, and </a:t>
            </a: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cascading model failure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3020"/>
            <a:ext cx="1105666" cy="269180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876102"/>
            <a:ext cx="1502730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#3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158577"/>
            <a:ext cx="691339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Hallucinations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99146"/>
            <a:ext cx="2193672" cy="4135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923" y="2095401"/>
            <a:ext cx="1724974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Legal AI Mandate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3923" y="2815332"/>
            <a:ext cx="1724974" cy="274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AI must </a:t>
            </a: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guess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claim, citation, and conclusion must be tied to a verifiable, line-item document citation with exact source file, page number, and extractable text.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1235" y="1899146"/>
            <a:ext cx="2193771" cy="41357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3682" y="2095401"/>
            <a:ext cx="172507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Fabricated Laws &amp; Sections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293682" y="2815332"/>
            <a:ext cx="1725073" cy="274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AI models confidently </a:t>
            </a: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 non-existent statutes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section numbers, and regulatory provisions when unsupported by exact, in-context source material.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094" y="1899146"/>
            <a:ext cx="2193672" cy="41357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53541" y="2095401"/>
            <a:ext cx="1724974" cy="83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Case-Invalidating Consequences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5653541" y="3092252"/>
            <a:ext cx="1724974" cy="274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fabricated section or precedent submitted in a court filing or contract </a:t>
            </a: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invalidates the entire document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exposes counsel to sanctions.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400" y="1667371"/>
            <a:ext cx="3523070" cy="3523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88245"/>
            <a:ext cx="93590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4879" y="2044898"/>
            <a:ext cx="13186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35098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RAG2Law Solution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61475" y="42648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— applied surgically, safely, and at enterprise scale for legal intelligence.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562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Mastering RAG: The Innovation That Changes Everything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03" y="1293019"/>
            <a:ext cx="9761789" cy="3533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1494" y="3964274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31494" y="2899130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Reason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1823116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Retrieve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61475" y="4978202"/>
            <a:ext cx="10868745" cy="1354138"/>
          </a:xfrm>
          <a:prstGeom prst="roundRect">
            <a:avLst>
              <a:gd name="adj" fmla="val 1767"/>
            </a:avLst>
          </a:prstGeom>
          <a:solidFill>
            <a:srgbClr val="4C5052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978202"/>
            <a:ext cx="3622882" cy="1354138"/>
          </a:xfrm>
          <a:custGeom>
            <a:avLst/>
            <a:gdLst/>
            <a:ahLst/>
            <a:cxnLst/>
            <a:rect l="l" t="t" r="r" b="b"/>
            <a:pathLst>
              <a:path w="3622882" h="1354138">
                <a:moveTo>
                  <a:pt x="19936" y="0"/>
                </a:moveTo>
                <a:lnTo>
                  <a:pt x="3622882" y="0"/>
                </a:lnTo>
                <a:lnTo>
                  <a:pt x="3622882" y="1354138"/>
                </a:lnTo>
                <a:lnTo>
                  <a:pt x="19936" y="1354138"/>
                </a:lnTo>
                <a:arcTo wR="19936" hR="19936" stAng="5400000" swAng="5400000"/>
                <a:lnTo>
                  <a:pt x="0" y="19936"/>
                </a:lnTo>
                <a:arcTo wR="19936" hR="19936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820915" y="5137646"/>
            <a:ext cx="330400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Safe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0915" y="5467449"/>
            <a:ext cx="330400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retrieval happens within local, air-gapped boundaries — zero public cloud exposure.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4357" y="4978202"/>
            <a:ext cx="3622882" cy="135413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2" name="Shape 9"/>
          <p:cNvSpPr/>
          <p:nvPr/>
        </p:nvSpPr>
        <p:spPr>
          <a:xfrm>
            <a:off x="4284357" y="4978202"/>
            <a:ext cx="19050" cy="1354138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3" name="Text 10"/>
          <p:cNvSpPr/>
          <p:nvPr/>
        </p:nvSpPr>
        <p:spPr>
          <a:xfrm>
            <a:off x="4443797" y="5137646"/>
            <a:ext cx="330400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Surgical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443797" y="5467449"/>
            <a:ext cx="330400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most relevant fragments are retrieved — eliminating token waste and cost blowout.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07239" y="4978202"/>
            <a:ext cx="3622882" cy="1354138"/>
          </a:xfrm>
          <a:custGeom>
            <a:avLst/>
            <a:gdLst/>
            <a:ahLst/>
            <a:cxnLst/>
            <a:rect l="l" t="t" r="r" b="b"/>
            <a:pathLst>
              <a:path w="3622882" h="1354138">
                <a:moveTo>
                  <a:pt x="0" y="0"/>
                </a:moveTo>
                <a:lnTo>
                  <a:pt x="3602947" y="0"/>
                </a:lnTo>
                <a:arcTo wR="19936" hR="19936" stAng="16200000" swAng="5400000"/>
                <a:lnTo>
                  <a:pt x="3622882" y="1334201"/>
                </a:lnTo>
                <a:arcTo wR="19936" hR="19936" stAng="0" swAng="5400000"/>
                <a:lnTo>
                  <a:pt x="0" y="1354138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7907239" y="4978202"/>
            <a:ext cx="19050" cy="1354138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6679" y="5137646"/>
            <a:ext cx="330400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 Scale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066679" y="5467449"/>
            <a:ext cx="330400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millions of records across thousands of documents without degrading model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83097"/>
            <a:ext cx="1687867" cy="287139"/>
          </a:xfrm>
          <a:prstGeom prst="roundRect">
            <a:avLst>
              <a:gd name="adj" fmla="val 7899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39751"/>
            <a:ext cx="20706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ADVANTAGES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458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Core Advantages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19958"/>
            <a:ext cx="3496877" cy="3054846"/>
          </a:xfrm>
          <a:prstGeom prst="roundRect">
            <a:avLst>
              <a:gd name="adj" fmla="val 928"/>
            </a:avLst>
          </a:prstGeom>
          <a:solidFill>
            <a:srgbClr val="4C5052"/>
          </a:solidFill>
          <a:ln/>
        </p:spPr>
      </p:sp>
      <p:sp>
        <p:nvSpPr>
          <p:cNvPr id="6" name="Shape 4"/>
          <p:cNvSpPr/>
          <p:nvPr/>
        </p:nvSpPr>
        <p:spPr>
          <a:xfrm>
            <a:off x="850482" y="2708970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2864842"/>
            <a:ext cx="255085" cy="2550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482" y="346501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Local &amp; Secure Data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3873698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documents stay in local vector indices. Data is never fed to open cloud training sets, eliminating all third-party data exposure risk entirely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2519958"/>
            <a:ext cx="3496877" cy="3054846"/>
          </a:xfrm>
          <a:prstGeom prst="roundRect">
            <a:avLst>
              <a:gd name="adj" fmla="val 928"/>
            </a:avLst>
          </a:prstGeom>
          <a:solidFill>
            <a:srgbClr val="4C5052"/>
          </a:solidFill>
          <a:ln/>
        </p:spPr>
      </p:sp>
      <p:sp>
        <p:nvSpPr>
          <p:cNvPr id="11" name="Shape 8"/>
          <p:cNvSpPr/>
          <p:nvPr/>
        </p:nvSpPr>
        <p:spPr>
          <a:xfrm>
            <a:off x="4536366" y="2708970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2864842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6366" y="346501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95%+ Token Cost Savings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4536366" y="3873698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Queries retrieve ONLY the top 2–3 relevant text pages instead of dumping 10,000 pages into the prompt — slashing API costs by orders of magnitude in production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033244" y="2519958"/>
            <a:ext cx="3496877" cy="3054846"/>
          </a:xfrm>
          <a:prstGeom prst="roundRect">
            <a:avLst>
              <a:gd name="adj" fmla="val 928"/>
            </a:avLst>
          </a:prstGeom>
          <a:solidFill>
            <a:srgbClr val="4C5052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2251" y="2708970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2864842"/>
            <a:ext cx="255085" cy="2550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2251" y="346501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Zero Hallucinations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222251" y="3873698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strict prompt boundaries — the AI answers only using verified document context. No invented laws. No fabricated precedents. No guesswork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831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Legal Enterprise Cannot Afford Guesswork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57277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RAG2Law enforces precision, privacy, and performance at every layer of the intelligence stack.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less is not a legal AI tool — it is a liability generator.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220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Advanced Capabilities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48961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the Scanned Document Barrier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84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Three Architectural Layers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37123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2726134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2882007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348218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Privacy Layer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890863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data processing — OCR, embedding, retrieval — executes within the local enterprise perimeter. Zero exfiltration surface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537123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2726134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2882007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348218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Speed Layer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3890863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LPU + FAISS ANN search delivers sub-second end-to-end query latency from user question to cited answer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537123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4C50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2726134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288200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348218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Accuracy Layer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3890863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strict context boundaries + Qwen 3.6 reasoning + citation enforcement = zero hallucination guarantee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3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 Overview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170904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1864916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2873772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· TailwindCSS · HTML5 Canvas · Lucide Icons · React-Dropzone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170904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1864916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Microservice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2873772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 · Flask · Werkzeug · CORS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170904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1864916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Multimodal OCR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2873772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RapidOCR (ONNX Runtime) · PyMuPDF · pdfplumber · python-docx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15905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19" name="Shape 14"/>
          <p:cNvSpPr/>
          <p:nvPr/>
        </p:nvSpPr>
        <p:spPr>
          <a:xfrm>
            <a:off x="850482" y="434806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6450" y="450393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482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RAG &amp; Vector Engine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0482" y="551279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v0.3+ · FAISS · SentenceTransformers (all-MiniLM-L6-v2)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15905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24" name="Shape 18"/>
          <p:cNvSpPr/>
          <p:nvPr/>
        </p:nvSpPr>
        <p:spPr>
          <a:xfrm>
            <a:off x="6379308" y="434806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276" y="450393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9308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Hardware &amp; LLM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79308" y="551279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LPU Tensor Acceleration · Qwen 3.6 27B Reasoning Model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717</Words>
  <Application>Microsoft Office PowerPoint</Application>
  <PresentationFormat>Widescreen</PresentationFormat>
  <Paragraphs>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Inter Bold</vt:lpstr>
      <vt:lpstr>Arial</vt:lpstr>
      <vt:lpstr>DM Sans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 patil</dc:creator>
  <cp:lastModifiedBy>sumit patil</cp:lastModifiedBy>
  <cp:revision>3</cp:revision>
  <dcterms:created xsi:type="dcterms:W3CDTF">2026-09-10T04:36:58Z</dcterms:created>
  <dcterms:modified xsi:type="dcterms:W3CDTF">2026-09-10T06:37:14Z</dcterms:modified>
</cp:coreProperties>
</file>