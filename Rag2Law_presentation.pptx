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8" r:id="rId12"/>
    <p:sldId id="269" r:id="rId13"/>
    <p:sldId id="270" r:id="rId14"/>
    <p:sldId id="273" r:id="rId15"/>
    <p:sldId id="274" r:id="rId16"/>
    <p:sldId id="276" r:id="rId17"/>
  </p:sldIdLst>
  <p:sldSz cx="12192000" cy="6858000"/>
  <p:notesSz cx="6858000" cy="12192000"/>
  <p:embeddedFontLst>
    <p:embeddedFont>
      <p:font typeface="DM Sans Medium" pitchFamily="2" charset="0"/>
      <p:regular r:id="rId19"/>
    </p:embeddedFont>
    <p:embeddedFont>
      <p:font typeface="Inter" panose="020B0604020202020204" charset="0"/>
      <p:regular r:id="rId20"/>
    </p:embeddedFont>
    <p:embeddedFont>
      <p:font typeface="Inter Bold" panose="020B0604020202020204" charset="0"/>
      <p:regular r:id="rId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0" d="100"/>
          <a:sy n="70" d="100"/>
        </p:scale>
        <p:origin x="51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148630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21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31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21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3133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3133">
              <a:alpha val="80000"/>
            </a:srgbClr>
          </a:solidFill>
          <a:ln/>
        </p:spPr>
      </p:sp>
      <p:pic>
        <p:nvPicPr>
          <p:cNvPr id="6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7" Type="http://schemas.openxmlformats.org/officeDocument/2006/relationships/image" Target="../media/image9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jpeg"/><Relationship Id="rId4" Type="http://schemas.openxmlformats.org/officeDocument/2006/relationships/image" Target="../media/image13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17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18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sv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12" Type="http://schemas.openxmlformats.org/officeDocument/2006/relationships/image" Target="../media/image36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svg"/><Relationship Id="rId11" Type="http://schemas.openxmlformats.org/officeDocument/2006/relationships/image" Target="../media/image35.png"/><Relationship Id="rId5" Type="http://schemas.openxmlformats.org/officeDocument/2006/relationships/image" Target="../media/image29.png"/><Relationship Id="rId10" Type="http://schemas.openxmlformats.org/officeDocument/2006/relationships/image" Target="../media/image34.svg"/><Relationship Id="rId4" Type="http://schemas.openxmlformats.org/officeDocument/2006/relationships/image" Target="../media/image28.svg"/><Relationship Id="rId9" Type="http://schemas.openxmlformats.org/officeDocument/2006/relationships/image" Target="../media/image3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7" Type="http://schemas.openxmlformats.org/officeDocument/2006/relationships/image" Target="../media/image41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39.svg"/><Relationship Id="rId4" Type="http://schemas.openxmlformats.org/officeDocument/2006/relationships/image" Target="../media/image3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eg"/><Relationship Id="rId7" Type="http://schemas.openxmlformats.org/officeDocument/2006/relationships/image" Target="../media/image4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2840732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7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Hello Everyone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356682" y="3714849"/>
            <a:ext cx="690644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Welcome to a new era of legal enterprise intelligence.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1142008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Meet the Creators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2016125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minds behind RAG2Law — building enterprise-grade legal AI from the ground up.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661475" y="2833588"/>
            <a:ext cx="3053877" cy="1089124"/>
          </a:xfrm>
          <a:prstGeom prst="roundRect">
            <a:avLst>
              <a:gd name="adj" fmla="val 2603"/>
            </a:avLst>
          </a:prstGeom>
          <a:solidFill>
            <a:srgbClr val="4C5052"/>
          </a:solidFill>
          <a:ln/>
        </p:spPr>
      </p:sp>
      <p:sp>
        <p:nvSpPr>
          <p:cNvPr id="6" name="Text 3"/>
          <p:cNvSpPr/>
          <p:nvPr/>
        </p:nvSpPr>
        <p:spPr>
          <a:xfrm>
            <a:off x="850482" y="3022600"/>
            <a:ext cx="26758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Kanak Khavate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850482" y="3431282"/>
            <a:ext cx="267586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Co-Creator &amp; Architect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3904359" y="2833588"/>
            <a:ext cx="3053976" cy="1089124"/>
          </a:xfrm>
          <a:prstGeom prst="roundRect">
            <a:avLst>
              <a:gd name="adj" fmla="val 2603"/>
            </a:avLst>
          </a:prstGeom>
          <a:solidFill>
            <a:srgbClr val="4C5052"/>
          </a:solidFill>
          <a:ln/>
        </p:spPr>
      </p:sp>
      <p:sp>
        <p:nvSpPr>
          <p:cNvPr id="9" name="Text 6"/>
          <p:cNvSpPr/>
          <p:nvPr/>
        </p:nvSpPr>
        <p:spPr>
          <a:xfrm>
            <a:off x="4093366" y="3022600"/>
            <a:ext cx="267596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Sumit Patil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4093366" y="3431282"/>
            <a:ext cx="267596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Co-Creator &amp; Architect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61475" y="4111724"/>
            <a:ext cx="6296860" cy="1089124"/>
          </a:xfrm>
          <a:prstGeom prst="roundRect">
            <a:avLst>
              <a:gd name="adj" fmla="val 2603"/>
            </a:avLst>
          </a:prstGeom>
          <a:solidFill>
            <a:srgbClr val="4C5052"/>
          </a:solidFill>
          <a:ln/>
        </p:spPr>
      </p:sp>
      <p:sp>
        <p:nvSpPr>
          <p:cNvPr id="12" name="Text 9"/>
          <p:cNvSpPr/>
          <p:nvPr/>
        </p:nvSpPr>
        <p:spPr>
          <a:xfrm>
            <a:off x="850482" y="4300736"/>
            <a:ext cx="59188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Sharya Dalwai</a:t>
            </a:r>
            <a:endParaRPr lang="en-US" sz="1850" dirty="0"/>
          </a:p>
        </p:txBody>
      </p:sp>
      <p:sp>
        <p:nvSpPr>
          <p:cNvPr id="13" name="Text 10"/>
          <p:cNvSpPr/>
          <p:nvPr/>
        </p:nvSpPr>
        <p:spPr>
          <a:xfrm>
            <a:off x="850482" y="4709418"/>
            <a:ext cx="591884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Co-Creator &amp; Architect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356682" y="5413474"/>
            <a:ext cx="690644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i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Introducing </a:t>
            </a:r>
            <a:r>
              <a:rPr lang="en-US" sz="1450" b="1" i="1" dirty="0">
                <a:solidFill>
                  <a:srgbClr val="D6D9D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RAG2Law</a:t>
            </a:r>
            <a:r>
              <a:rPr lang="en-US" sz="1450" i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Enterprise-Grade Legal AI Intelligence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527943"/>
            <a:ext cx="6296860" cy="563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The Enterprise AI Crisis</a:t>
            </a:r>
            <a:endParaRPr lang="en-US" sz="35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1348581"/>
            <a:ext cx="6296860" cy="163988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68549" y="1554063"/>
            <a:ext cx="5784308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Accelerating Adoption, Catastrophic Risk</a:t>
            </a:r>
            <a:endParaRPr lang="en-US" sz="1750" dirty="0"/>
          </a:p>
        </p:txBody>
      </p:sp>
      <p:sp>
        <p:nvSpPr>
          <p:cNvPr id="6" name="Text 2"/>
          <p:cNvSpPr/>
          <p:nvPr/>
        </p:nvSpPr>
        <p:spPr>
          <a:xfrm>
            <a:off x="968549" y="1938536"/>
            <a:ext cx="5784308" cy="8444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Enterprise AI adoption is accelerating — but raw LLM deployments expose sensitive legal data to catastrophic risk with every single prompt.</a:t>
            </a:r>
            <a:endParaRPr lang="en-US" sz="14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3160117"/>
            <a:ext cx="6296860" cy="163988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968549" y="3365599"/>
            <a:ext cx="5784308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Data That Cannot Be Trusted to Public Pipelines</a:t>
            </a:r>
            <a:endParaRPr lang="en-US" sz="1750" dirty="0"/>
          </a:p>
        </p:txBody>
      </p:sp>
      <p:sp>
        <p:nvSpPr>
          <p:cNvPr id="9" name="Text 4"/>
          <p:cNvSpPr/>
          <p:nvPr/>
        </p:nvSpPr>
        <p:spPr>
          <a:xfrm>
            <a:off x="968549" y="3750072"/>
            <a:ext cx="5784308" cy="8444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Proprietary contracts, financial records, and court filings </a:t>
            </a:r>
            <a:r>
              <a:rPr lang="en-US" sz="1400" b="1" dirty="0">
                <a:solidFill>
                  <a:srgbClr val="D6D9D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cannot</a:t>
            </a:r>
            <a:r>
              <a:rPr lang="en-US" sz="14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 trusted to public cloud inference pipelines. The exposure is not theoretical — it is structural.</a:t>
            </a:r>
            <a:endParaRPr lang="en-US" sz="14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1475" y="4971653"/>
            <a:ext cx="6296860" cy="135840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68549" y="5177135"/>
            <a:ext cx="5784308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What RAG2Law Delivers</a:t>
            </a:r>
            <a:endParaRPr lang="en-US" sz="1750" dirty="0"/>
          </a:p>
        </p:txBody>
      </p:sp>
      <p:sp>
        <p:nvSpPr>
          <p:cNvPr id="12" name="Text 6"/>
          <p:cNvSpPr/>
          <p:nvPr/>
        </p:nvSpPr>
        <p:spPr>
          <a:xfrm>
            <a:off x="968549" y="5561608"/>
            <a:ext cx="5784308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Harnessing full AI power without leaking company data or burning cloud budgets — this is precisely what RAG2Law delivers.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233360" y="1988245"/>
            <a:ext cx="935907" cy="287139"/>
          </a:xfrm>
          <a:prstGeom prst="roundRect">
            <a:avLst>
              <a:gd name="adj" fmla="val 7899"/>
            </a:avLst>
          </a:prstGeom>
          <a:noFill/>
          <a:ln w="6350">
            <a:solidFill>
              <a:srgbClr val="AC9EF5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346765" y="2044898"/>
            <a:ext cx="1318683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AC9E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CHAPTER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5233360" y="2350988"/>
            <a:ext cx="6296860" cy="1630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51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The Three Critical Problems</a:t>
            </a:r>
            <a:endParaRPr lang="en-US" sz="5100" dirty="0"/>
          </a:p>
        </p:txBody>
      </p:sp>
      <p:sp>
        <p:nvSpPr>
          <p:cNvPr id="6" name="Text 3"/>
          <p:cNvSpPr/>
          <p:nvPr/>
        </p:nvSpPr>
        <p:spPr>
          <a:xfrm>
            <a:off x="5233360" y="4264819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Privacy. Scale. Truth. Every legal AI deployment must confront these three failure vectors — RAG2Law was built to eliminate all three.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672034"/>
            <a:ext cx="3513645" cy="3513733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628141" y="723999"/>
            <a:ext cx="1111321" cy="278110"/>
          </a:xfrm>
          <a:prstGeom prst="roundRect">
            <a:avLst>
              <a:gd name="adj" fmla="val 7901"/>
            </a:avLst>
          </a:prstGeom>
          <a:solidFill>
            <a:srgbClr val="110745"/>
          </a:solidFill>
          <a:ln/>
        </p:spPr>
      </p:sp>
      <p:sp>
        <p:nvSpPr>
          <p:cNvPr id="4" name="Text 1"/>
          <p:cNvSpPr/>
          <p:nvPr/>
        </p:nvSpPr>
        <p:spPr>
          <a:xfrm>
            <a:off x="4737974" y="778867"/>
            <a:ext cx="1501241" cy="168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PROBLEM #1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4628141" y="1073051"/>
            <a:ext cx="6908330" cy="572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Data Privacy Exposure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5217387" y="1907679"/>
            <a:ext cx="2754045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The Exposure Vector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5217387" y="2371030"/>
            <a:ext cx="2754045" cy="17305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prompt submitted to a public LLM API is a potential data exfiltration event. Without strict local boundaries, enterprise AI becomes an </a:t>
            </a:r>
            <a:r>
              <a:rPr lang="en-US" sz="1400" b="1" dirty="0">
                <a:solidFill>
                  <a:srgbClr val="D6D9D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uncontrolled liability surface</a:t>
            </a:r>
            <a:r>
              <a:rPr lang="en-US" sz="14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782326" y="1907679"/>
            <a:ext cx="2754144" cy="572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Proprietary Contracts &amp; Proofs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782326" y="2657078"/>
            <a:ext cx="2754144" cy="2019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Passing sensitive corporate agreements to public cloud LLMs risks data theft and regulatory compliance breaches across </a:t>
            </a:r>
            <a:r>
              <a:rPr lang="en-US" sz="1400" b="1" dirty="0">
                <a:solidFill>
                  <a:srgbClr val="D6D9D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GDPR, HIPAA</a:t>
            </a:r>
            <a:r>
              <a:rPr lang="en-US" sz="14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and attorney-client privilege mandates.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217387" y="5093692"/>
            <a:ext cx="6319084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Financial &amp; Property Damage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5217387" y="5557044"/>
            <a:ext cx="6319084" cy="576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single data leak via a public AI prompt can cause </a:t>
            </a:r>
            <a:r>
              <a:rPr lang="en-US" sz="1400" b="1" dirty="0">
                <a:solidFill>
                  <a:srgbClr val="D6D9D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irreversible property damage</a:t>
            </a:r>
            <a:r>
              <a:rPr lang="en-US" sz="14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competitive harm, and direct legal liability.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509911"/>
            <a:ext cx="1178094" cy="287139"/>
          </a:xfrm>
          <a:prstGeom prst="roundRect">
            <a:avLst>
              <a:gd name="adj" fmla="val 7899"/>
            </a:avLst>
          </a:prstGeom>
          <a:solidFill>
            <a:srgbClr val="110745"/>
          </a:solidFill>
          <a:ln/>
        </p:spPr>
      </p:sp>
      <p:sp>
        <p:nvSpPr>
          <p:cNvPr id="3" name="Text 1"/>
          <p:cNvSpPr/>
          <p:nvPr/>
        </p:nvSpPr>
        <p:spPr>
          <a:xfrm>
            <a:off x="774879" y="1566565"/>
            <a:ext cx="1560870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PROBLEM #2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87265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Token Limits &amp; Scale</a:t>
            </a:r>
            <a:endParaRPr lang="en-US" sz="3700" dirty="0"/>
          </a:p>
        </p:txBody>
      </p:sp>
      <p:sp>
        <p:nvSpPr>
          <p:cNvPr id="5" name="Shape 3"/>
          <p:cNvSpPr/>
          <p:nvPr/>
        </p:nvSpPr>
        <p:spPr>
          <a:xfrm>
            <a:off x="661475" y="2746772"/>
            <a:ext cx="3496877" cy="2601218"/>
          </a:xfrm>
          <a:prstGeom prst="roundRect">
            <a:avLst>
              <a:gd name="adj" fmla="val 1090"/>
            </a:avLst>
          </a:prstGeom>
          <a:solidFill>
            <a:srgbClr val="4C5052"/>
          </a:solidFill>
          <a:ln/>
        </p:spPr>
      </p:sp>
      <p:sp>
        <p:nvSpPr>
          <p:cNvPr id="6" name="Text 4"/>
          <p:cNvSpPr/>
          <p:nvPr/>
        </p:nvSpPr>
        <p:spPr>
          <a:xfrm>
            <a:off x="850482" y="2935784"/>
            <a:ext cx="3118863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The Million-Record Constraint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850482" y="3639741"/>
            <a:ext cx="3118863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Real-world legal cases involve thousands of documents. They physically </a:t>
            </a:r>
            <a:r>
              <a:rPr lang="en-US" sz="1450" b="1" dirty="0">
                <a:solidFill>
                  <a:srgbClr val="D6D9D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cannot fit</a:t>
            </a:r>
            <a:r>
              <a:rPr lang="en-US" sz="14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inside an AI context window — full stop.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4347359" y="2746772"/>
            <a:ext cx="3496877" cy="2601218"/>
          </a:xfrm>
          <a:prstGeom prst="roundRect">
            <a:avLst>
              <a:gd name="adj" fmla="val 1090"/>
            </a:avLst>
          </a:prstGeom>
          <a:solidFill>
            <a:srgbClr val="4C5052"/>
          </a:solidFill>
          <a:ln/>
        </p:spPr>
      </p:sp>
      <p:sp>
        <p:nvSpPr>
          <p:cNvPr id="9" name="Text 7"/>
          <p:cNvSpPr/>
          <p:nvPr/>
        </p:nvSpPr>
        <p:spPr>
          <a:xfrm>
            <a:off x="4536366" y="2935784"/>
            <a:ext cx="31188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Astronomical Token Costs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4536366" y="3344466"/>
            <a:ext cx="3118863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Even the largest frontier models cap at ~128K tokens — a fraction of a real legal case's document volume. Dump-pasting raw files </a:t>
            </a:r>
            <a:r>
              <a:rPr lang="en-US" sz="1450" b="1" dirty="0">
                <a:solidFill>
                  <a:srgbClr val="D6D9D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burns through cloud API budgets within hours</a:t>
            </a:r>
            <a:r>
              <a:rPr lang="en-US" sz="14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of production use.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8033244" y="2746772"/>
            <a:ext cx="3496877" cy="2601218"/>
          </a:xfrm>
          <a:prstGeom prst="roundRect">
            <a:avLst>
              <a:gd name="adj" fmla="val 1090"/>
            </a:avLst>
          </a:prstGeom>
          <a:solidFill>
            <a:srgbClr val="4C5052"/>
          </a:solidFill>
          <a:ln/>
        </p:spPr>
      </p:sp>
      <p:sp>
        <p:nvSpPr>
          <p:cNvPr id="12" name="Text 10"/>
          <p:cNvSpPr/>
          <p:nvPr/>
        </p:nvSpPr>
        <p:spPr>
          <a:xfrm>
            <a:off x="8222251" y="2935784"/>
            <a:ext cx="3118863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Latency &amp; Model Breakdown</a:t>
            </a:r>
            <a:endParaRPr lang="en-US" sz="1850" dirty="0"/>
          </a:p>
        </p:txBody>
      </p:sp>
      <p:sp>
        <p:nvSpPr>
          <p:cNvPr id="13" name="Text 11"/>
          <p:cNvSpPr/>
          <p:nvPr/>
        </p:nvSpPr>
        <p:spPr>
          <a:xfrm>
            <a:off x="8222251" y="3639741"/>
            <a:ext cx="3118863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Oversized prompts degrade model attention mechanisms, causing high response latency, incoherent outputs, and </a:t>
            </a:r>
            <a:r>
              <a:rPr lang="en-US" sz="1450" b="1" dirty="0">
                <a:solidFill>
                  <a:srgbClr val="D6D9D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cascading model failure</a:t>
            </a:r>
            <a:r>
              <a:rPr lang="en-US" sz="14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823020"/>
            <a:ext cx="1105666" cy="269180"/>
          </a:xfrm>
          <a:prstGeom prst="roundRect">
            <a:avLst>
              <a:gd name="adj" fmla="val 7900"/>
            </a:avLst>
          </a:prstGeom>
          <a:solidFill>
            <a:srgbClr val="110745"/>
          </a:solidFill>
          <a:ln/>
        </p:spPr>
      </p:sp>
      <p:sp>
        <p:nvSpPr>
          <p:cNvPr id="3" name="Text 1"/>
          <p:cNvSpPr/>
          <p:nvPr/>
        </p:nvSpPr>
        <p:spPr>
          <a:xfrm>
            <a:off x="767735" y="876102"/>
            <a:ext cx="1502730" cy="163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PROBLEM #3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61475" y="1158577"/>
            <a:ext cx="6913390" cy="553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AI Hallucinations</a:t>
            </a:r>
            <a:endParaRPr lang="en-US" sz="34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1899146"/>
            <a:ext cx="2193672" cy="413573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33923" y="2095401"/>
            <a:ext cx="1724974" cy="5538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The Legal AI Mandate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933923" y="2815332"/>
            <a:ext cx="1724974" cy="2746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Legal AI must </a:t>
            </a:r>
            <a:r>
              <a:rPr lang="en-US" sz="1350" b="1" dirty="0">
                <a:solidFill>
                  <a:srgbClr val="D6D9D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never guess</a:t>
            </a:r>
            <a:r>
              <a:rPr lang="en-US" sz="13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Every claim, citation, and conclusion must be tied to a verifiable, line-item document citation with exact source file, page number, and extractable text.</a:t>
            </a:r>
            <a:endParaRPr lang="en-US" sz="13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21235" y="1899146"/>
            <a:ext cx="2193771" cy="413573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293682" y="2095401"/>
            <a:ext cx="1725073" cy="5538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Fabricated Laws &amp; Sections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3293682" y="2815332"/>
            <a:ext cx="1725073" cy="2746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Standard AI models confidently </a:t>
            </a:r>
            <a:r>
              <a:rPr lang="en-US" sz="1350" b="1" dirty="0">
                <a:solidFill>
                  <a:srgbClr val="D6D9D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invent non-existent statutes</a:t>
            </a:r>
            <a:r>
              <a:rPr lang="en-US" sz="13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section numbers, and regulatory provisions when unsupported by exact, in-context source material.</a:t>
            </a:r>
            <a:endParaRPr lang="en-US" sz="13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81094" y="1899146"/>
            <a:ext cx="2193672" cy="413573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653541" y="2095401"/>
            <a:ext cx="1724974" cy="8307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Case-Invalidating Consequences</a:t>
            </a:r>
            <a:endParaRPr lang="en-US" sz="1700" dirty="0"/>
          </a:p>
        </p:txBody>
      </p:sp>
      <p:sp>
        <p:nvSpPr>
          <p:cNvPr id="13" name="Text 8"/>
          <p:cNvSpPr/>
          <p:nvPr/>
        </p:nvSpPr>
        <p:spPr>
          <a:xfrm>
            <a:off x="5653541" y="3092252"/>
            <a:ext cx="1724974" cy="2746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single fabricated section or precedent submitted in a court filing or contract </a:t>
            </a:r>
            <a:r>
              <a:rPr lang="en-US" sz="1350" b="1" dirty="0">
                <a:solidFill>
                  <a:srgbClr val="D6D9D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invalidates the entire document</a:t>
            </a:r>
            <a:r>
              <a:rPr lang="en-US" sz="13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exposes counsel to sanctions.</a:t>
            </a:r>
            <a:endParaRPr lang="en-US" sz="13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13400" y="1667371"/>
            <a:ext cx="3523070" cy="352315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61475" y="1988245"/>
            <a:ext cx="935907" cy="287139"/>
          </a:xfrm>
          <a:prstGeom prst="roundRect">
            <a:avLst>
              <a:gd name="adj" fmla="val 7899"/>
            </a:avLst>
          </a:prstGeom>
          <a:noFill/>
          <a:ln w="6350">
            <a:solidFill>
              <a:srgbClr val="AC9EF5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74879" y="2044898"/>
            <a:ext cx="1318683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AC9E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CHAPTER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661475" y="2350988"/>
            <a:ext cx="6296860" cy="1630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51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The RAG2Law Solution</a:t>
            </a:r>
            <a:endParaRPr lang="en-US" sz="5100" dirty="0"/>
          </a:p>
        </p:txBody>
      </p:sp>
      <p:sp>
        <p:nvSpPr>
          <p:cNvPr id="6" name="Text 3"/>
          <p:cNvSpPr/>
          <p:nvPr/>
        </p:nvSpPr>
        <p:spPr>
          <a:xfrm>
            <a:off x="661475" y="4264819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Retrieval-Augmented Generation — applied surgically, safely, and at enterprise scale for legal intelligence.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5562"/>
            <a:ext cx="10868745" cy="498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Mastering RAG: The Innovation That Changes Everything</a:t>
            </a:r>
            <a:endParaRPr lang="en-US" sz="31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4903" y="1293019"/>
            <a:ext cx="9761789" cy="353387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931494" y="3964274"/>
            <a:ext cx="2445424" cy="305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Respond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1931494" y="2899130"/>
            <a:ext cx="2445424" cy="305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Reason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1931494" y="1823116"/>
            <a:ext cx="2445424" cy="305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Retrieve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661475" y="4978202"/>
            <a:ext cx="10868745" cy="1354138"/>
          </a:xfrm>
          <a:prstGeom prst="roundRect">
            <a:avLst>
              <a:gd name="adj" fmla="val 1767"/>
            </a:avLst>
          </a:prstGeom>
          <a:solidFill>
            <a:srgbClr val="4C5052"/>
          </a:solidFill>
          <a:ln/>
        </p:spPr>
      </p:sp>
      <p:sp>
        <p:nvSpPr>
          <p:cNvPr id="8" name="Shape 5"/>
          <p:cNvSpPr/>
          <p:nvPr/>
        </p:nvSpPr>
        <p:spPr>
          <a:xfrm>
            <a:off x="661475" y="4978202"/>
            <a:ext cx="3622882" cy="1354138"/>
          </a:xfrm>
          <a:custGeom>
            <a:avLst/>
            <a:gdLst/>
            <a:ahLst/>
            <a:cxnLst/>
            <a:rect l="l" t="t" r="r" b="b"/>
            <a:pathLst>
              <a:path w="3622882" h="1354138">
                <a:moveTo>
                  <a:pt x="19936" y="0"/>
                </a:moveTo>
                <a:lnTo>
                  <a:pt x="3622882" y="0"/>
                </a:lnTo>
                <a:lnTo>
                  <a:pt x="3622882" y="1354138"/>
                </a:lnTo>
                <a:lnTo>
                  <a:pt x="19936" y="1354138"/>
                </a:lnTo>
                <a:arcTo wR="19936" hR="19936" stAng="5400000" swAng="5400000"/>
                <a:lnTo>
                  <a:pt x="0" y="19936"/>
                </a:lnTo>
                <a:arcTo wR="19936" hR="19936" stAng="10800000" swAng="5400000"/>
                <a:close/>
              </a:path>
            </a:pathLst>
          </a:custGeom>
          <a:solidFill>
            <a:srgbClr val="4C5052"/>
          </a:solidFill>
          <a:ln/>
        </p:spPr>
      </p:sp>
      <p:sp>
        <p:nvSpPr>
          <p:cNvPr id="9" name="Text 6"/>
          <p:cNvSpPr/>
          <p:nvPr/>
        </p:nvSpPr>
        <p:spPr>
          <a:xfrm>
            <a:off x="820915" y="5137646"/>
            <a:ext cx="3304001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Safe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820915" y="5467449"/>
            <a:ext cx="3304001" cy="7054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retrieval happens within local, air-gapped boundaries — zero public cloud exposure.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284357" y="4978202"/>
            <a:ext cx="3622882" cy="1354138"/>
          </a:xfrm>
          <a:prstGeom prst="rect">
            <a:avLst/>
          </a:prstGeom>
          <a:solidFill>
            <a:srgbClr val="4C5052"/>
          </a:solidFill>
          <a:ln/>
        </p:spPr>
      </p:sp>
      <p:sp>
        <p:nvSpPr>
          <p:cNvPr id="12" name="Shape 9"/>
          <p:cNvSpPr/>
          <p:nvPr/>
        </p:nvSpPr>
        <p:spPr>
          <a:xfrm>
            <a:off x="4284357" y="4978202"/>
            <a:ext cx="19050" cy="1354138"/>
          </a:xfrm>
          <a:prstGeom prst="roundRect">
            <a:avLst>
              <a:gd name="adj" fmla="val 49999"/>
            </a:avLst>
          </a:prstGeom>
          <a:solidFill>
            <a:srgbClr val="65696B"/>
          </a:solidFill>
          <a:ln/>
        </p:spPr>
      </p:sp>
      <p:sp>
        <p:nvSpPr>
          <p:cNvPr id="13" name="Text 10"/>
          <p:cNvSpPr/>
          <p:nvPr/>
        </p:nvSpPr>
        <p:spPr>
          <a:xfrm>
            <a:off x="4443797" y="5137646"/>
            <a:ext cx="3304001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Surgical</a:t>
            </a:r>
            <a:endParaRPr lang="en-US" sz="1550" dirty="0"/>
          </a:p>
        </p:txBody>
      </p:sp>
      <p:sp>
        <p:nvSpPr>
          <p:cNvPr id="14" name="Text 11"/>
          <p:cNvSpPr/>
          <p:nvPr/>
        </p:nvSpPr>
        <p:spPr>
          <a:xfrm>
            <a:off x="4443797" y="5467449"/>
            <a:ext cx="3304001" cy="7054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Only the most relevant fragments are retrieved — eliminating token waste and cost blowout.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7907239" y="4978202"/>
            <a:ext cx="3622882" cy="1354138"/>
          </a:xfrm>
          <a:custGeom>
            <a:avLst/>
            <a:gdLst/>
            <a:ahLst/>
            <a:cxnLst/>
            <a:rect l="l" t="t" r="r" b="b"/>
            <a:pathLst>
              <a:path w="3622882" h="1354138">
                <a:moveTo>
                  <a:pt x="0" y="0"/>
                </a:moveTo>
                <a:lnTo>
                  <a:pt x="3602947" y="0"/>
                </a:lnTo>
                <a:arcTo wR="19936" hR="19936" stAng="16200000" swAng="5400000"/>
                <a:lnTo>
                  <a:pt x="3622882" y="1334201"/>
                </a:lnTo>
                <a:arcTo wR="19936" hR="19936" stAng="0" swAng="5400000"/>
                <a:lnTo>
                  <a:pt x="0" y="1354138"/>
                </a:lnTo>
                <a:lnTo>
                  <a:pt x="0" y="0"/>
                </a:lnTo>
                <a:close/>
              </a:path>
            </a:pathLst>
          </a:custGeom>
          <a:solidFill>
            <a:srgbClr val="4C5052"/>
          </a:solidFill>
          <a:ln/>
        </p:spPr>
      </p:sp>
      <p:sp>
        <p:nvSpPr>
          <p:cNvPr id="16" name="Shape 13"/>
          <p:cNvSpPr/>
          <p:nvPr/>
        </p:nvSpPr>
        <p:spPr>
          <a:xfrm>
            <a:off x="7907239" y="4978202"/>
            <a:ext cx="19050" cy="1354138"/>
          </a:xfrm>
          <a:prstGeom prst="roundRect">
            <a:avLst>
              <a:gd name="adj" fmla="val 49999"/>
            </a:avLst>
          </a:prstGeom>
          <a:solidFill>
            <a:srgbClr val="65696B"/>
          </a:solidFill>
          <a:ln/>
        </p:spPr>
      </p:sp>
      <p:sp>
        <p:nvSpPr>
          <p:cNvPr id="17" name="Text 14"/>
          <p:cNvSpPr/>
          <p:nvPr/>
        </p:nvSpPr>
        <p:spPr>
          <a:xfrm>
            <a:off x="8066679" y="5137646"/>
            <a:ext cx="3304001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At Scale</a:t>
            </a:r>
            <a:endParaRPr lang="en-US" sz="1550" dirty="0"/>
          </a:p>
        </p:txBody>
      </p:sp>
      <p:sp>
        <p:nvSpPr>
          <p:cNvPr id="18" name="Text 15"/>
          <p:cNvSpPr/>
          <p:nvPr/>
        </p:nvSpPr>
        <p:spPr>
          <a:xfrm>
            <a:off x="8066679" y="5467449"/>
            <a:ext cx="3304001" cy="7054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Handles millions of records across thousands of documents without degrading model performance.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283097"/>
            <a:ext cx="1687867" cy="287139"/>
          </a:xfrm>
          <a:prstGeom prst="roundRect">
            <a:avLst>
              <a:gd name="adj" fmla="val 7899"/>
            </a:avLst>
          </a:prstGeom>
          <a:solidFill>
            <a:srgbClr val="110745"/>
          </a:solidFill>
          <a:ln/>
        </p:spPr>
      </p:sp>
      <p:sp>
        <p:nvSpPr>
          <p:cNvPr id="3" name="Text 1"/>
          <p:cNvSpPr/>
          <p:nvPr/>
        </p:nvSpPr>
        <p:spPr>
          <a:xfrm>
            <a:off x="774879" y="1339751"/>
            <a:ext cx="2070644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ADVANTAGES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645841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Three Core Advantages</a:t>
            </a:r>
            <a:endParaRPr lang="en-US" sz="3700" dirty="0"/>
          </a:p>
        </p:txBody>
      </p:sp>
      <p:sp>
        <p:nvSpPr>
          <p:cNvPr id="5" name="Shape 3"/>
          <p:cNvSpPr/>
          <p:nvPr/>
        </p:nvSpPr>
        <p:spPr>
          <a:xfrm>
            <a:off x="661475" y="2519958"/>
            <a:ext cx="3496877" cy="3054846"/>
          </a:xfrm>
          <a:prstGeom prst="roundRect">
            <a:avLst>
              <a:gd name="adj" fmla="val 928"/>
            </a:avLst>
          </a:prstGeom>
          <a:solidFill>
            <a:srgbClr val="4C5052"/>
          </a:solidFill>
          <a:ln/>
        </p:spPr>
      </p:sp>
      <p:sp>
        <p:nvSpPr>
          <p:cNvPr id="6" name="Shape 4"/>
          <p:cNvSpPr/>
          <p:nvPr/>
        </p:nvSpPr>
        <p:spPr>
          <a:xfrm>
            <a:off x="850482" y="2708970"/>
            <a:ext cx="567021" cy="567035"/>
          </a:xfrm>
          <a:prstGeom prst="ellipse">
            <a:avLst/>
          </a:prstGeom>
          <a:solidFill>
            <a:srgbClr val="AC9EF5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6450" y="2864842"/>
            <a:ext cx="255085" cy="25509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50482" y="3465016"/>
            <a:ext cx="31188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Local &amp; Secure Data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850482" y="3873698"/>
            <a:ext cx="3118863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Proprietary documents stay in local vector indices. Data is never fed to open cloud training sets, eliminating all third-party data exposure risk entirely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4347359" y="2519958"/>
            <a:ext cx="3496877" cy="3054846"/>
          </a:xfrm>
          <a:prstGeom prst="roundRect">
            <a:avLst>
              <a:gd name="adj" fmla="val 928"/>
            </a:avLst>
          </a:prstGeom>
          <a:solidFill>
            <a:srgbClr val="4C5052"/>
          </a:solidFill>
          <a:ln/>
        </p:spPr>
      </p:sp>
      <p:sp>
        <p:nvSpPr>
          <p:cNvPr id="11" name="Shape 8"/>
          <p:cNvSpPr/>
          <p:nvPr/>
        </p:nvSpPr>
        <p:spPr>
          <a:xfrm>
            <a:off x="4536366" y="2708970"/>
            <a:ext cx="567021" cy="567035"/>
          </a:xfrm>
          <a:prstGeom prst="ellipse">
            <a:avLst/>
          </a:prstGeom>
          <a:solidFill>
            <a:srgbClr val="AC9EF5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92334" y="2864842"/>
            <a:ext cx="255085" cy="25509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36366" y="3465016"/>
            <a:ext cx="31188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95%+ Token Cost Savings</a:t>
            </a:r>
            <a:endParaRPr lang="en-US" sz="1850" dirty="0"/>
          </a:p>
        </p:txBody>
      </p:sp>
      <p:sp>
        <p:nvSpPr>
          <p:cNvPr id="14" name="Text 10"/>
          <p:cNvSpPr/>
          <p:nvPr/>
        </p:nvSpPr>
        <p:spPr>
          <a:xfrm>
            <a:off x="4536366" y="3873698"/>
            <a:ext cx="3118863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Queries retrieve ONLY the top 2–3 relevant text pages instead of dumping 10,000 pages into the prompt — slashing API costs by orders of magnitude in production</a:t>
            </a:r>
            <a:endParaRPr lang="en-US" sz="1450" dirty="0"/>
          </a:p>
        </p:txBody>
      </p:sp>
      <p:sp>
        <p:nvSpPr>
          <p:cNvPr id="15" name="Shape 11"/>
          <p:cNvSpPr/>
          <p:nvPr/>
        </p:nvSpPr>
        <p:spPr>
          <a:xfrm>
            <a:off x="8033244" y="2519958"/>
            <a:ext cx="3496877" cy="3054846"/>
          </a:xfrm>
          <a:prstGeom prst="roundRect">
            <a:avLst>
              <a:gd name="adj" fmla="val 928"/>
            </a:avLst>
          </a:prstGeom>
          <a:solidFill>
            <a:srgbClr val="4C5052"/>
          </a:solidFill>
          <a:ln/>
        </p:spPr>
      </p:sp>
      <p:sp>
        <p:nvSpPr>
          <p:cNvPr id="16" name="Shape 12"/>
          <p:cNvSpPr/>
          <p:nvPr/>
        </p:nvSpPr>
        <p:spPr>
          <a:xfrm>
            <a:off x="8222251" y="2708970"/>
            <a:ext cx="567021" cy="567035"/>
          </a:xfrm>
          <a:prstGeom prst="ellipse">
            <a:avLst/>
          </a:prstGeom>
          <a:solidFill>
            <a:srgbClr val="AC9EF5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378219" y="2864842"/>
            <a:ext cx="255085" cy="25509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222251" y="3465016"/>
            <a:ext cx="31188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Zero Hallucinations</a:t>
            </a:r>
            <a:endParaRPr lang="en-US" sz="1850" dirty="0"/>
          </a:p>
        </p:txBody>
      </p:sp>
      <p:sp>
        <p:nvSpPr>
          <p:cNvPr id="19" name="Text 14"/>
          <p:cNvSpPr/>
          <p:nvPr/>
        </p:nvSpPr>
        <p:spPr>
          <a:xfrm>
            <a:off x="8222251" y="3873698"/>
            <a:ext cx="3118863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Enforces strict prompt boundaries — the AI answers only using verified document context. No invented laws. No fabricated precedents. No guesswork</a:t>
            </a:r>
            <a:endParaRPr lang="en-US" sz="1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583160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The Legal Enterprise Cannot Afford Guesswork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3457277"/>
            <a:ext cx="10868745" cy="817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RAG2Law enforces precision, privacy, and performance at every layer of the intelligence stack.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Anything less is not a legal AI tool — it is a liability generator.</a:t>
            </a:r>
            <a:endParaRPr lang="en-US" sz="14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568450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The Three Architectural Layers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2537123"/>
            <a:ext cx="3496877" cy="2752427"/>
          </a:xfrm>
          <a:prstGeom prst="roundRect">
            <a:avLst>
              <a:gd name="adj" fmla="val 1030"/>
            </a:avLst>
          </a:prstGeom>
          <a:solidFill>
            <a:srgbClr val="4C5052"/>
          </a:solidFill>
          <a:ln/>
        </p:spPr>
      </p:sp>
      <p:sp>
        <p:nvSpPr>
          <p:cNvPr id="4" name="Shape 2"/>
          <p:cNvSpPr/>
          <p:nvPr/>
        </p:nvSpPr>
        <p:spPr>
          <a:xfrm>
            <a:off x="850482" y="2726134"/>
            <a:ext cx="567021" cy="567035"/>
          </a:xfrm>
          <a:prstGeom prst="ellipse">
            <a:avLst/>
          </a:prstGeom>
          <a:solidFill>
            <a:srgbClr val="AC9EF5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6450" y="2882007"/>
            <a:ext cx="255085" cy="25509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0482" y="3482181"/>
            <a:ext cx="31188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Privacy Layer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850482" y="3890863"/>
            <a:ext cx="3118863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data processing — OCR, embedding, retrieval — executes within the local enterprise perimeter. Zero exfiltration surface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4347359" y="2537123"/>
            <a:ext cx="3496877" cy="2752427"/>
          </a:xfrm>
          <a:prstGeom prst="roundRect">
            <a:avLst>
              <a:gd name="adj" fmla="val 1030"/>
            </a:avLst>
          </a:prstGeom>
          <a:solidFill>
            <a:srgbClr val="4C5052"/>
          </a:solidFill>
          <a:ln/>
        </p:spPr>
      </p:sp>
      <p:sp>
        <p:nvSpPr>
          <p:cNvPr id="9" name="Shape 6"/>
          <p:cNvSpPr/>
          <p:nvPr/>
        </p:nvSpPr>
        <p:spPr>
          <a:xfrm>
            <a:off x="4536366" y="2726134"/>
            <a:ext cx="567021" cy="567035"/>
          </a:xfrm>
          <a:prstGeom prst="ellipse">
            <a:avLst/>
          </a:prstGeom>
          <a:solidFill>
            <a:srgbClr val="AC9EF5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92334" y="2882007"/>
            <a:ext cx="255085" cy="25509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36366" y="3482181"/>
            <a:ext cx="31188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Speed Layer</a:t>
            </a:r>
            <a:endParaRPr lang="en-US" sz="1850" dirty="0"/>
          </a:p>
        </p:txBody>
      </p:sp>
      <p:sp>
        <p:nvSpPr>
          <p:cNvPr id="12" name="Text 8"/>
          <p:cNvSpPr/>
          <p:nvPr/>
        </p:nvSpPr>
        <p:spPr>
          <a:xfrm>
            <a:off x="4536366" y="3890863"/>
            <a:ext cx="3118863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Groq LPU + FAISS ANN search delivers sub-second end-to-end query latency from user question to cited answer</a:t>
            </a:r>
            <a:endParaRPr lang="en-US" sz="1450" dirty="0"/>
          </a:p>
        </p:txBody>
      </p:sp>
      <p:sp>
        <p:nvSpPr>
          <p:cNvPr id="13" name="Shape 9"/>
          <p:cNvSpPr/>
          <p:nvPr/>
        </p:nvSpPr>
        <p:spPr>
          <a:xfrm>
            <a:off x="8033244" y="2537123"/>
            <a:ext cx="3496877" cy="2752427"/>
          </a:xfrm>
          <a:prstGeom prst="roundRect">
            <a:avLst>
              <a:gd name="adj" fmla="val 1030"/>
            </a:avLst>
          </a:prstGeom>
          <a:solidFill>
            <a:srgbClr val="4C5052"/>
          </a:solidFill>
          <a:ln/>
        </p:spPr>
      </p:sp>
      <p:sp>
        <p:nvSpPr>
          <p:cNvPr id="14" name="Shape 10"/>
          <p:cNvSpPr/>
          <p:nvPr/>
        </p:nvSpPr>
        <p:spPr>
          <a:xfrm>
            <a:off x="8222251" y="2726134"/>
            <a:ext cx="567021" cy="567035"/>
          </a:xfrm>
          <a:prstGeom prst="ellipse">
            <a:avLst/>
          </a:prstGeom>
          <a:solidFill>
            <a:srgbClr val="AC9EF5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378219" y="2882007"/>
            <a:ext cx="255085" cy="25509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222251" y="3482181"/>
            <a:ext cx="31188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Accuracy Layer</a:t>
            </a:r>
            <a:endParaRPr lang="en-US" sz="1850" dirty="0"/>
          </a:p>
        </p:txBody>
      </p:sp>
      <p:sp>
        <p:nvSpPr>
          <p:cNvPr id="17" name="Text 12"/>
          <p:cNvSpPr/>
          <p:nvPr/>
        </p:nvSpPr>
        <p:spPr>
          <a:xfrm>
            <a:off x="8222251" y="3890863"/>
            <a:ext cx="3118863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LangChain strict context boundaries + Qwen 3.6 reasoning + citation enforcement = zero hallucination guarantee</a:t>
            </a:r>
            <a:endParaRPr lang="en-US" sz="14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51359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Technology Stack Overview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1520031"/>
            <a:ext cx="3496877" cy="2450009"/>
          </a:xfrm>
          <a:prstGeom prst="roundRect">
            <a:avLst>
              <a:gd name="adj" fmla="val 1157"/>
            </a:avLst>
          </a:prstGeom>
          <a:solidFill>
            <a:srgbClr val="4C5052"/>
          </a:solidFill>
          <a:ln/>
        </p:spPr>
      </p:sp>
      <p:sp>
        <p:nvSpPr>
          <p:cNvPr id="4" name="Shape 2"/>
          <p:cNvSpPr/>
          <p:nvPr/>
        </p:nvSpPr>
        <p:spPr>
          <a:xfrm>
            <a:off x="850482" y="1709043"/>
            <a:ext cx="567021" cy="567035"/>
          </a:xfrm>
          <a:prstGeom prst="ellipse">
            <a:avLst/>
          </a:prstGeom>
          <a:solidFill>
            <a:srgbClr val="AC9EF5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6450" y="1864916"/>
            <a:ext cx="255085" cy="25509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0482" y="2465090"/>
            <a:ext cx="31188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Frontend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850482" y="2873772"/>
            <a:ext cx="311886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 18 · TailwindCSS · HTML5 Canvas · Lucide Icons · React-Dropzone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4347359" y="1520031"/>
            <a:ext cx="3496877" cy="2450009"/>
          </a:xfrm>
          <a:prstGeom prst="roundRect">
            <a:avLst>
              <a:gd name="adj" fmla="val 1157"/>
            </a:avLst>
          </a:prstGeom>
          <a:solidFill>
            <a:srgbClr val="4C5052"/>
          </a:solidFill>
          <a:ln/>
        </p:spPr>
      </p:sp>
      <p:sp>
        <p:nvSpPr>
          <p:cNvPr id="9" name="Shape 6"/>
          <p:cNvSpPr/>
          <p:nvPr/>
        </p:nvSpPr>
        <p:spPr>
          <a:xfrm>
            <a:off x="4536366" y="1709043"/>
            <a:ext cx="567021" cy="567035"/>
          </a:xfrm>
          <a:prstGeom prst="ellipse">
            <a:avLst/>
          </a:prstGeom>
          <a:solidFill>
            <a:srgbClr val="AC9EF5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92334" y="1864916"/>
            <a:ext cx="255085" cy="25509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36366" y="2465090"/>
            <a:ext cx="31188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Backend Microservice</a:t>
            </a:r>
            <a:endParaRPr lang="en-US" sz="1850" dirty="0"/>
          </a:p>
        </p:txBody>
      </p:sp>
      <p:sp>
        <p:nvSpPr>
          <p:cNvPr id="12" name="Text 8"/>
          <p:cNvSpPr/>
          <p:nvPr/>
        </p:nvSpPr>
        <p:spPr>
          <a:xfrm>
            <a:off x="4536366" y="2873772"/>
            <a:ext cx="3118863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 3.11 · Flask · Werkzeug · CORS</a:t>
            </a:r>
            <a:endParaRPr lang="en-US" sz="1450" dirty="0"/>
          </a:p>
        </p:txBody>
      </p:sp>
      <p:sp>
        <p:nvSpPr>
          <p:cNvPr id="13" name="Shape 9"/>
          <p:cNvSpPr/>
          <p:nvPr/>
        </p:nvSpPr>
        <p:spPr>
          <a:xfrm>
            <a:off x="8033244" y="1520031"/>
            <a:ext cx="3496877" cy="2450009"/>
          </a:xfrm>
          <a:prstGeom prst="roundRect">
            <a:avLst>
              <a:gd name="adj" fmla="val 1157"/>
            </a:avLst>
          </a:prstGeom>
          <a:solidFill>
            <a:srgbClr val="4C5052"/>
          </a:solidFill>
          <a:ln/>
        </p:spPr>
      </p:sp>
      <p:sp>
        <p:nvSpPr>
          <p:cNvPr id="14" name="Shape 10"/>
          <p:cNvSpPr/>
          <p:nvPr/>
        </p:nvSpPr>
        <p:spPr>
          <a:xfrm>
            <a:off x="8222251" y="1709043"/>
            <a:ext cx="567021" cy="567035"/>
          </a:xfrm>
          <a:prstGeom prst="ellipse">
            <a:avLst/>
          </a:prstGeom>
          <a:solidFill>
            <a:srgbClr val="AC9EF5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378219" y="1864916"/>
            <a:ext cx="255085" cy="25509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222251" y="2465090"/>
            <a:ext cx="31188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Multimodal OCR</a:t>
            </a:r>
            <a:endParaRPr lang="en-US" sz="1850" dirty="0"/>
          </a:p>
        </p:txBody>
      </p:sp>
      <p:sp>
        <p:nvSpPr>
          <p:cNvPr id="17" name="Text 12"/>
          <p:cNvSpPr/>
          <p:nvPr/>
        </p:nvSpPr>
        <p:spPr>
          <a:xfrm>
            <a:off x="8222251" y="2873772"/>
            <a:ext cx="311886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RapidOCR (ONNX Runtime) · PyMuPDF · pdfplumber · python-docx</a:t>
            </a:r>
            <a:endParaRPr lang="en-US" sz="1450" dirty="0"/>
          </a:p>
        </p:txBody>
      </p:sp>
      <p:sp>
        <p:nvSpPr>
          <p:cNvPr id="18" name="Shape 13"/>
          <p:cNvSpPr/>
          <p:nvPr/>
        </p:nvSpPr>
        <p:spPr>
          <a:xfrm>
            <a:off x="661475" y="4159052"/>
            <a:ext cx="5339820" cy="2147590"/>
          </a:xfrm>
          <a:prstGeom prst="roundRect">
            <a:avLst>
              <a:gd name="adj" fmla="val 1320"/>
            </a:avLst>
          </a:prstGeom>
          <a:solidFill>
            <a:srgbClr val="4C5052"/>
          </a:solidFill>
          <a:ln/>
        </p:spPr>
      </p:sp>
      <p:sp>
        <p:nvSpPr>
          <p:cNvPr id="19" name="Shape 14"/>
          <p:cNvSpPr/>
          <p:nvPr/>
        </p:nvSpPr>
        <p:spPr>
          <a:xfrm>
            <a:off x="850482" y="4348063"/>
            <a:ext cx="567021" cy="567035"/>
          </a:xfrm>
          <a:prstGeom prst="ellipse">
            <a:avLst/>
          </a:prstGeom>
          <a:solidFill>
            <a:srgbClr val="AC9EF5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06450" y="4503936"/>
            <a:ext cx="255085" cy="255091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50482" y="5104110"/>
            <a:ext cx="49618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RAG &amp; Vector Engine</a:t>
            </a:r>
            <a:endParaRPr lang="en-US" sz="1850" dirty="0"/>
          </a:p>
        </p:txBody>
      </p:sp>
      <p:sp>
        <p:nvSpPr>
          <p:cNvPr id="22" name="Text 16"/>
          <p:cNvSpPr/>
          <p:nvPr/>
        </p:nvSpPr>
        <p:spPr>
          <a:xfrm>
            <a:off x="850482" y="5512792"/>
            <a:ext cx="496180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LangChain v0.3+ · FAISS · SentenceTransformers (all-MiniLM-L6-v2)</a:t>
            </a:r>
            <a:endParaRPr lang="en-US" sz="1450" dirty="0"/>
          </a:p>
        </p:txBody>
      </p:sp>
      <p:sp>
        <p:nvSpPr>
          <p:cNvPr id="23" name="Shape 17"/>
          <p:cNvSpPr/>
          <p:nvPr/>
        </p:nvSpPr>
        <p:spPr>
          <a:xfrm>
            <a:off x="6190301" y="4159052"/>
            <a:ext cx="5339820" cy="2147590"/>
          </a:xfrm>
          <a:prstGeom prst="roundRect">
            <a:avLst>
              <a:gd name="adj" fmla="val 1320"/>
            </a:avLst>
          </a:prstGeom>
          <a:solidFill>
            <a:srgbClr val="4C5052"/>
          </a:solidFill>
          <a:ln/>
        </p:spPr>
      </p:sp>
      <p:sp>
        <p:nvSpPr>
          <p:cNvPr id="24" name="Shape 18"/>
          <p:cNvSpPr/>
          <p:nvPr/>
        </p:nvSpPr>
        <p:spPr>
          <a:xfrm>
            <a:off x="6379308" y="4348063"/>
            <a:ext cx="567021" cy="567035"/>
          </a:xfrm>
          <a:prstGeom prst="ellipse">
            <a:avLst/>
          </a:prstGeom>
          <a:solidFill>
            <a:srgbClr val="AC9EF5"/>
          </a:solidFill>
          <a:ln/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535276" y="4503936"/>
            <a:ext cx="255085" cy="255091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6379308" y="5104110"/>
            <a:ext cx="49618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Hardware &amp; LLM</a:t>
            </a:r>
            <a:endParaRPr lang="en-US" sz="1850" dirty="0"/>
          </a:p>
        </p:txBody>
      </p:sp>
      <p:sp>
        <p:nvSpPr>
          <p:cNvPr id="27" name="Text 20"/>
          <p:cNvSpPr/>
          <p:nvPr/>
        </p:nvSpPr>
        <p:spPr>
          <a:xfrm>
            <a:off x="6379308" y="5512792"/>
            <a:ext cx="496180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Groq LPU Tensor Acceleration · Qwen 3.6 27B Reasoning Model</a:t>
            </a:r>
            <a:endParaRPr lang="en-US" sz="14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40953"/>
            <a:ext cx="10868745" cy="424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Breaking the Scanned Document Barrier</a:t>
            </a:r>
            <a:endParaRPr lang="en-US" sz="26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640086"/>
            <a:ext cx="4148629" cy="4148733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147836" y="1321693"/>
            <a:ext cx="1122930" cy="206276"/>
          </a:xfrm>
          <a:prstGeom prst="roundRect">
            <a:avLst>
              <a:gd name="adj" fmla="val 7903"/>
            </a:avLst>
          </a:prstGeom>
          <a:solidFill>
            <a:srgbClr val="110745"/>
          </a:solidFill>
          <a:ln/>
        </p:spPr>
      </p:sp>
      <p:sp>
        <p:nvSpPr>
          <p:cNvPr id="5" name="Text 2"/>
          <p:cNvSpPr/>
          <p:nvPr/>
        </p:nvSpPr>
        <p:spPr>
          <a:xfrm>
            <a:off x="5229293" y="1362373"/>
            <a:ext cx="1569601" cy="1249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SOLUTION DETAIL</a:t>
            </a:r>
            <a:endParaRPr lang="en-US" sz="8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147836" y="1637804"/>
            <a:ext cx="6388635" cy="136247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240308" y="1733252"/>
            <a:ext cx="203691" cy="2546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5302713" y="2161977"/>
            <a:ext cx="6078882" cy="212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The Scanned Document Problem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5302713" y="2471936"/>
            <a:ext cx="6078882" cy="3734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 70% of real legal records are scanned paper copies or mobile images — entirely inaccessible to standard AI text pipelines without a dedicated extraction layer</a:t>
            </a:r>
            <a:endParaRPr lang="en-US" sz="10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147836" y="3097907"/>
            <a:ext cx="6388635" cy="136247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240308" y="3193355"/>
            <a:ext cx="203691" cy="2546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5302713" y="3622080"/>
            <a:ext cx="6078882" cy="212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Why Edge Matters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5302713" y="3932039"/>
            <a:ext cx="6078882" cy="3734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Cloud OCR services require document upload to external servers. This is legally impermissible for privileged materials. Edge OCR keeps every pixel inside the enterprise firewall</a:t>
            </a:r>
            <a:endParaRPr lang="en-US" sz="10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147836" y="4558010"/>
            <a:ext cx="6388635" cy="154920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240308" y="4653459"/>
            <a:ext cx="203691" cy="2546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0"/>
          <p:cNvSpPr/>
          <p:nvPr/>
        </p:nvSpPr>
        <p:spPr>
          <a:xfrm>
            <a:off x="5302713" y="5082183"/>
            <a:ext cx="6078882" cy="212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Edge OCR Technology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5302713" y="5392142"/>
            <a:ext cx="6078882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Integrated RapidOCR + PyMuPDF extracts text locally on CPU without third-party cloud tools. Scanned court orders, handwritten receipts, and photographed agreements are indexed as cleanly as native digital PDFs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236269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4022030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7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Advanced Capabilities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356682" y="4896148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Breaking the Scanned Document Barrier</a:t>
            </a:r>
            <a:endParaRPr lang="en-US" sz="14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667445"/>
            <a:ext cx="6296860" cy="4522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Solution Architecture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5233360" y="1285875"/>
            <a:ext cx="6906444" cy="204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Four-Stage Intelligence Pipeline</a:t>
            </a:r>
            <a:endParaRPr lang="en-US" sz="11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3360" y="1614884"/>
            <a:ext cx="723584" cy="105033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067670" y="1614884"/>
            <a:ext cx="5462550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Ingest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6067670" y="1907381"/>
            <a:ext cx="5462550" cy="613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Reads multi-format text documents and scanned paper files including PDFs, DOCX, images, and court-issued paper records through integrated multimodal OCR</a:t>
            </a:r>
            <a:endParaRPr lang="en-US" sz="11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3360" y="2809875"/>
            <a:ext cx="723584" cy="105033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067670" y="2809875"/>
            <a:ext cx="5462550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Index</a:t>
            </a:r>
            <a:endParaRPr lang="en-US" sz="1400" dirty="0"/>
          </a:p>
        </p:txBody>
      </p:sp>
      <p:sp>
        <p:nvSpPr>
          <p:cNvPr id="10" name="Text 5"/>
          <p:cNvSpPr/>
          <p:nvPr/>
        </p:nvSpPr>
        <p:spPr>
          <a:xfrm>
            <a:off x="6067670" y="3102372"/>
            <a:ext cx="5462550" cy="613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Stores 1,000-character chunks locally in FAISS vector embeddings — a high-performance similarity index that never leaves the enterprise compute boundary</a:t>
            </a:r>
            <a:endParaRPr lang="en-US" sz="11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33360" y="4004866"/>
            <a:ext cx="723584" cy="105033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067670" y="4004866"/>
            <a:ext cx="5462550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Retrieve</a:t>
            </a:r>
            <a:endParaRPr lang="en-US" sz="1400" dirty="0"/>
          </a:p>
        </p:txBody>
      </p:sp>
      <p:sp>
        <p:nvSpPr>
          <p:cNvPr id="13" name="Text 7"/>
          <p:cNvSpPr/>
          <p:nvPr/>
        </p:nvSpPr>
        <p:spPr>
          <a:xfrm>
            <a:off x="6067670" y="4297363"/>
            <a:ext cx="5462550" cy="613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Dynamically fetches exact relevant clauses upon user query using semantic similarity search — returning only the 2–3 most contextually precise document fragments</a:t>
            </a:r>
            <a:endParaRPr lang="en-US" sz="11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33360" y="5199856"/>
            <a:ext cx="723584" cy="845939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6067670" y="5199856"/>
            <a:ext cx="5462550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Answer</a:t>
            </a:r>
            <a:endParaRPr lang="en-US" sz="1400" dirty="0"/>
          </a:p>
        </p:txBody>
      </p:sp>
      <p:sp>
        <p:nvSpPr>
          <p:cNvPr id="16" name="Text 9"/>
          <p:cNvSpPr/>
          <p:nvPr/>
        </p:nvSpPr>
        <p:spPr>
          <a:xfrm>
            <a:off x="6067670" y="5492353"/>
            <a:ext cx="5462550" cy="408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Generates instant answers paired with exact document name and page citations — every response is fully auditable and traceable to its source material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1014</Words>
  <Application>Microsoft Office PowerPoint</Application>
  <PresentationFormat>Widescreen</PresentationFormat>
  <Paragraphs>126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Inter</vt:lpstr>
      <vt:lpstr>Inter Bold</vt:lpstr>
      <vt:lpstr>Arial</vt:lpstr>
      <vt:lpstr>DM Sans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sumit patil</dc:creator>
  <cp:lastModifiedBy>sumit patil</cp:lastModifiedBy>
  <cp:revision>2</cp:revision>
  <dcterms:created xsi:type="dcterms:W3CDTF">2026-09-10T04:36:58Z</dcterms:created>
  <dcterms:modified xsi:type="dcterms:W3CDTF">2026-09-10T05:16:20Z</dcterms:modified>
</cp:coreProperties>
</file>